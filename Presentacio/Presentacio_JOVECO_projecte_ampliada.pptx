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Presento JOVECO, un projecte per modernitzar un supermercat de proximitat combinant web, botiga online, ERP i xarxa.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Aquesta és la ruta que seguiré. La idea és que el tribunal entengui no només què he fet, sinó per què ho he fet així.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 és un negoci agrícola tradicional que fa venda directa i necessita créixer sense perdre el valor de proximitat.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valor no és només fer una pàgina web. És ordenar la gestió de productes, vendes i comandes.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deixo clar què busca el projecte i evito que es vegi com una suma d’eines sense relació.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És important remarcar que no tot es fa en aquesta fase. L’abast és una primera base realista.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apartat fa de pont entre el negoci i la solució tècnica.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resumeix els tres processos principals i evita entrar encara en detalls tècnics.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és el cas d’ús que més justifica Dolibarr i el control d’estoc.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 connecta la part funcional amb la necessitat de xarxa segura i dispositius físics.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és el procés on més es veu la integració entre web, ERP, correu i magatzem.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és una llista d’eines perquè sí: cada eina ve d’una necessitat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d’aquestes capes desenvolupo cada cas d’ús i puc justificar per què he triat cada eina.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 de Dinahosting i autoinstal·lables redueix complexitat inicial, però també ha portat limitacions.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integració és un dels punts forts de la presentació perquè mostra el sistema complet.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diagrama és clau per explicar que no són eines separades, sinó una solució amb fluxos de 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l’important és justificar la separació entre clients, treballadors i equips interns.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planificació mostra que el projecte no és improvisat, sinó que segueix una evolució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cal llegir el Gantt complet: explico les fases i com una prepara la següent.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Aquesta part és important perquè mostra desenvolupament propi, no només configuració d’eines.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web demo no substitueix WooCommerce. És una prova de desenvolupament propi amb HTML, CSS i 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és el punt de programació. Puc explicar el formulari, la connexió i el resultat sense entrar en codi complex.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desplegament és molt realista perquè no tot ha sortit perfecte i això aporta aprenentatge.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Explico que els autoinstal·lables faciliten el procés, però també limiten versions i compatibilitats.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Aquest punt és molt potent per a la defensa perquè demostra resolució de problemes reals.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 annexos no són decoració: són evidències de configuració, manual, pressupost, proves i bibliografia.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English: The project achieved a functional digital base. The main limitation is stock synchronization, but the system is documented and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English: I learned to work with a real hosting environment and to solve deployment problems using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conclusió ha de ser clara: el projecte és realista, funcional com a base i amb millores identificades.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Tanco la presentació i deixo pas a preguntes del tribunal.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6012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1E4DE"/>
            </a:solidFill>
            <a:prstDash val="solid"/>
          </a:ln>
        </p:spPr>
      </p:sp>
      <p:pic>
        <p:nvPicPr>
          <p:cNvPr id="4" name="Image 0" descr="/mnt/data/joveco_slide_assets/logo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616" y="1033272"/>
            <a:ext cx="2357584" cy="859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213969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4C2F"/>
                </a:solidFill>
              </a:rPr>
              <a:t>JOVECO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76656" y="278892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331F"/>
                </a:solidFill>
              </a:rPr>
              <a:t>Disseny i implementació d’una solució digital per al supermercat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4944" y="333756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3B"/>
                </a:solidFill>
              </a:rPr>
              <a:t>Botiga online · gestió interna · infraestructura de xarxa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886200"/>
            <a:ext cx="42976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4944" y="4251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Adrià Cabrera Martínez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Sistemes Microinformàtics i Xarxes · INS Palamós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Curs 2025–2026</a:t>
            </a:r>
            <a:endParaRPr lang="en-US" sz="1450" dirty="0"/>
          </a:p>
        </p:txBody>
      </p:sp>
      <p:pic>
        <p:nvPicPr>
          <p:cNvPr id="10" name="Image 1" descr="/mnt/data/global_solution_workflow_diagram.png">    </p:cNvPr>
          <p:cNvPicPr>
            <a:picLocks noChangeAspect="1"/>
          </p:cNvPicPr>
          <p:nvPr/>
        </p:nvPicPr>
        <p:blipFill>
          <a:blip r:embed="rId2"/>
          <a:srcRect l="13289" r="13289" t="0" b="0"/>
          <a:stretch/>
        </p:blipFill>
        <p:spPr>
          <a:xfrm>
            <a:off x="7269480" y="1234440"/>
            <a:ext cx="4251960" cy="4343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58155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56B"/>
                </a:solidFill>
              </a:rPr>
              <a:t>Presentació oral del projecte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Portada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Introducció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Recorregut de la presentació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6756B"/>
                </a:solidFill>
              </a:rPr>
              <a:t>Explicaré el projecte de menys a més: necessitat, solució, desplegament i resultats.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02336" cy="402336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31F"/>
                </a:solidFill>
              </a:rPr>
              <a:t>Context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6B"/>
                </a:solidFill>
              </a:rPr>
              <a:t>Punt de partida i necessitat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402336" cy="402336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31F"/>
                </a:solidFill>
              </a:rPr>
              <a:t>Abast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6B"/>
                </a:solidFill>
              </a:rPr>
              <a:t>Objectius i límits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575304"/>
            <a:ext cx="402336" cy="402336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47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31F"/>
                </a:solidFill>
              </a:rPr>
              <a:t>Solució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54787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6B"/>
                </a:solidFill>
              </a:rPr>
              <a:t>Casos d’ús i capes tècniques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288536"/>
            <a:ext cx="402336" cy="402336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261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31F"/>
                </a:solidFill>
              </a:rPr>
              <a:t>Implementació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4261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6B"/>
                </a:solidFill>
              </a:rPr>
              <a:t>Web, WooCommerce, Dolibarr i xarxa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5001768"/>
            <a:ext cx="402336" cy="402336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97433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31F"/>
                </a:solidFill>
              </a:rPr>
              <a:t>Resultats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497433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56B"/>
                </a:solidFill>
              </a:rPr>
              <a:t>Validació, aprenentatges i millores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412480" y="5394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B3B"/>
                </a:solidFill>
              </a:rPr>
              <a:t>Slides 22–23 are in English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24128" y="2578608"/>
            <a:ext cx="0" cy="2651760"/>
          </a:xfrm>
          <a:prstGeom prst="line">
            <a:avLst/>
          </a:prstGeom>
          <a:noFill/>
          <a:ln w="25400">
            <a:solidFill>
              <a:srgbClr val="A8C3A4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01000" y="141732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4DE"/>
            </a:solidFill>
            <a:prstDash val="solid"/>
          </a:ln>
        </p:spPr>
      </p:sp>
      <p:pic>
        <p:nvPicPr>
          <p:cNvPr id="25" name="Image 0" descr="/mnt/data/project_management_concept_overview_in_cata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1877949"/>
            <a:ext cx="3099816" cy="232486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Introducció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1. Context i situació inicial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D’un negoci agrícola tradicional a un supermercat digital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El punt de partida és un negoci de proximitat amb gestió manual i sense presència online.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1. Context i situació inicial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Quina necessitat es vol cobrir?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063240" cy="1051560"/>
          </a:xfrm>
          <a:prstGeom prst="rect">
            <a:avLst/>
          </a:prstGeom>
          <a:solidFill>
            <a:srgbClr val="EEE4CE"/>
          </a:solidFill>
          <a:ln>
            <a:solidFill>
              <a:srgbClr val="EEE4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Situació inicial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Venda directa i processos manuals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53712" y="1828800"/>
            <a:ext cx="3063240" cy="1051560"/>
          </a:xfrm>
          <a:prstGeom prst="rect">
            <a:avLst/>
          </a:prstGeom>
          <a:solidFill>
            <a:srgbClr val="F4E7B5"/>
          </a:solidFill>
          <a:ln>
            <a:solidFill>
              <a:srgbClr val="F4E7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Problema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Estoc difícil de controlar i poca presència online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0" y="1828800"/>
            <a:ext cx="3063240" cy="105156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Valor aportat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Més organització, control i base per créixer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Mercat municipal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4992" y="404164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384048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Botiga física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98464" y="404164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384048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Botiga online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31936" y="404164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14816" y="3840480"/>
            <a:ext cx="2432304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Gestió interna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7331F"/>
                </a:solidFill>
              </a:rPr>
              <a:t>La solució ha de reduir feina manual, centralitzar informació i donar una imatge més professional al client.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Context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2. Abast i objectius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Objectiu general i objectius específics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3B"/>
                </a:solidFill>
              </a:rPr>
              <a:t>Objectiu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43891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31F"/>
                </a:solidFill>
              </a:rPr>
              <a:t>Modernitzar el funcionament de JOVECO amb una base digital per gestionar vendes, productes, estoc i comandes.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32120" y="1691640"/>
            <a:ext cx="0" cy="4206240"/>
          </a:xfrm>
          <a:prstGeom prst="line">
            <a:avLst/>
          </a:prstGeom>
          <a:noFill/>
          <a:ln w="15240">
            <a:solidFill>
              <a:srgbClr val="D7D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828800"/>
            <a:ext cx="53949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Crear una pàgina web i una botiga online.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Millorar la gestió de productes i estoc.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Facilitar venda presencial amb TPV i tiquet.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Organitzar comandes online i picking.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Definir xarxa, seguretat i backups.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Documentar el projecte per futures ampliacions.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Idea clau: primer una base funcional i documentada; després, possibles ampliacions.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Objectius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2. Abast i objectius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Què inclou i què queda fora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B3B"/>
                </a:solidFill>
              </a:rPr>
              <a:t>Inclou la fase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3891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Presència digital i botiga online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Gestió interna amb ERP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Venda física i TPV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Magatzem i preparació de comandes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Xarxa del local, seguretat i backups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A85B"/>
                </a:solidFill>
              </a:rPr>
              <a:t>Fora de l’abast / fase futura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057400"/>
            <a:ext cx="43891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Sensors reals als camps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IoT agrícola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Reg intel·ligent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Connexió avançada cultiu-web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Automatització completa de l’estoc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965960" y="5074920"/>
            <a:ext cx="2609088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Base digital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3336" y="52760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6216" y="5074920"/>
            <a:ext cx="2609088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Operativa diària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3592" y="52760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6472" y="5074920"/>
            <a:ext cx="2609088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Millores futures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Abast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3. Anàlisi funcional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Tres casos d’ús per entendre 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Primer s’explica el procés; després es justifica la tecnologia que el fa possible.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3. Casos d’ús principals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Els processos clau de JOVECO</a:t>
            </a:r>
            <a:endParaRPr lang="en-US" sz="3000" dirty="0"/>
          </a:p>
        </p:txBody>
      </p:sp>
      <p:pic>
        <p:nvPicPr>
          <p:cNvPr id="6" name="Image 0" descr="/mnt/data/system_use_case_overvie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97330"/>
            <a:ext cx="5577840" cy="4183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37960" y="1874520"/>
            <a:ext cx="47548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17331F"/>
                </a:solidFill>
              </a:rPr>
              <a:t>Inventari: entrada, sortida i merma de productes.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17331F"/>
                </a:solidFill>
              </a:rPr>
              <a:t>TPV físic: venda, pagament i tiquet.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17331F"/>
                </a:solidFill>
              </a:rPr>
              <a:t>Venda online: comanda, picking i confirmació.</a:t>
            </a:r>
            <a:endParaRPr lang="en-US" sz="1630" dirty="0"/>
          </a:p>
          <a:p>
            <a:pPr marL="177800" indent="-177800">
              <a:buSzPct val="100000"/>
              <a:buChar char="•"/>
            </a:pPr>
            <a:r>
              <a:rPr lang="en-US" sz="1630" dirty="0">
                <a:solidFill>
                  <a:srgbClr val="17331F"/>
                </a:solidFill>
              </a:rPr>
              <a:t>Cada procés té actors, flux principal, alternatives i postcondicions.</a:t>
            </a:r>
            <a:endParaRPr lang="en-US" sz="1630" dirty="0"/>
          </a:p>
        </p:txBody>
      </p:sp>
      <p:sp>
        <p:nvSpPr>
          <p:cNvPr id="8" name="Text 5"/>
          <p:cNvSpPr/>
          <p:nvPr/>
        </p:nvSpPr>
        <p:spPr>
          <a:xfrm>
            <a:off x="6629400" y="4663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6B3B"/>
                </a:solidFill>
              </a:rPr>
              <a:t>Aquests casos d’ús justifiquen les eines escollides després.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Casos d’ús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3. Casos d’ús principals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Cas d’ús 1 · Inventari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Accés del mosso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73552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87452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Escaneig o codi manual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07024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9904" y="1874520"/>
            <a:ext cx="243230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Entrada / sortida / merma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540496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3376" y="1874520"/>
            <a:ext cx="2432304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Estoc actualitzat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5029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Controla productes, lots, origen i caducitat.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Permet registrar mercaderia nova o sortides.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La merma evita vendre producte defectuós.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Postcondició: moviment registrat i estoc actualitzat.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152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756B"/>
                </a:solidFill>
              </a:rPr>
              <a:t>Component principal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3657600"/>
            <a:ext cx="3383280" cy="96012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Dolibarr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Productes + estoc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Inventari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3. Casos d’ús principals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Cas d’ús 2 · Venda directa amb TPV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Caixer inicia sessió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56002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8882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Escaneja productes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17643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0523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Cobra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79285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2165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Genera tiquet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40926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23806" y="1874520"/>
            <a:ext cx="1960474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Venda registrada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54864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Representa la venda física del supermercat.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Pot funcionar amb productes escanejats o introduïts manualment.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sistema ha de registrar la venda i generar comprovant.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La xarxa del TPV ha d’estar separada de la Wi-Fi pública.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49440" y="3383280"/>
            <a:ext cx="3657600" cy="1024128"/>
          </a:xfrm>
          <a:prstGeom prst="rect">
            <a:avLst/>
          </a:prstGeom>
          <a:solidFill>
            <a:srgbClr val="EEE4CE"/>
          </a:solidFill>
          <a:ln>
            <a:solidFill>
              <a:srgbClr val="EEE4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TPV físic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Venda + pagament + tiquet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TPV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3. Casos d’ús principals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Cas d’ús 3 · Venda online i picking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Client compra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56002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38882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Comanda registrada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17643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0523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Magatzem rep avís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79285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2165" y="1874520"/>
            <a:ext cx="1960474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Picking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40926" y="207568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23806" y="1874520"/>
            <a:ext cx="1960474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Confirmació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54864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WooCommerce recull la comanda online.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magatzem prepara els productes físicament.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correu de logística pot rebre avisos de nova comanda.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La sincronització d’estoc és funcional però millorable.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949440" y="3383280"/>
            <a:ext cx="3657600" cy="1024128"/>
          </a:xfrm>
          <a:prstGeom prst="rect">
            <a:avLst/>
          </a:prstGeom>
          <a:solidFill>
            <a:srgbClr val="F4E7B5"/>
          </a:solidFill>
          <a:ln>
            <a:solidFill>
              <a:srgbClr val="F4E7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Web + ERP + correu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Comandes i preparació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Venda online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4. Solucions tècniques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 casos d’ús a capes funcionals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La tecnologia s’ha triat per donar resposta als processos del supermercat.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4. Solucions tècniques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Descomposició tècnica per capes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01168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Aplicacions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154680" y="1600200"/>
            <a:ext cx="7680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E3D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WordPress · WooCommerce · Dolibarr · DoliWoo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201168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Serveis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54680" y="2350008"/>
            <a:ext cx="7680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E3D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Hosting · BD MySQL · correu · passarel·la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201168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Sistema operatiu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3099816"/>
            <a:ext cx="7680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E3D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Entorn cloud + dispositius locals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3849624"/>
            <a:ext cx="201168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Xarxa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54680" y="3849624"/>
            <a:ext cx="7680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E3D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Router · firewall · switch · VLANs · APs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599432"/>
            <a:ext cx="201168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Capa física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54680" y="4599432"/>
            <a:ext cx="768096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0E3DC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TPV · PDA · lector QR · NAS · cablejat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5577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6B3B"/>
                </a:solidFill>
              </a:rPr>
              <a:t>Aquesta estructura evita barrejar processos amb tecnologia i ajuda a justificar cada decisió.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Capes tècniques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4. Solucions tècniques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Eines principals i justificació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WordPress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Base per publicar la web i gestionar contingut.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WooCommerce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926080" y="23134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Botiga online amb productes, categories i comandes.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026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Dolibarr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26080" y="302666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ERP per productes, estoc, tercers i processos interns.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739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Dinahosting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26080" y="373989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Hosting amb autoinstal·lables, BD i correu corporatiu.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453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6B3B"/>
                </a:solidFill>
              </a:rPr>
              <a:t>DoliWoo / REST API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26080" y="44531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31F"/>
                </a:solidFill>
              </a:rPr>
              <a:t>Intent de connexió entre botiga i gestió interna.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5349240"/>
            <a:ext cx="10241280" cy="50292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7331F"/>
                </a:solidFill>
              </a:rPr>
              <a:t>Decisió pràctica: començar amb eines accessibles i autoinstal·lables per centrar el projecte en configuració, integració i documentació.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Eines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15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5. Integració i interacció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 treballen juntes les parts del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Client, web, TPV, ERP, base de dades, correu i magatzem formen una solució única.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5. Integració i interacció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Funcionament global de la solució</a:t>
            </a:r>
            <a:endParaRPr lang="en-US" sz="3000" dirty="0"/>
          </a:p>
        </p:txBody>
      </p:sp>
      <p:pic>
        <p:nvPicPr>
          <p:cNvPr id="6" name="Image 0" descr="/mnt/data/global_solution_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" y="1508760"/>
            <a:ext cx="6156960" cy="4617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client online entra a la web i compra productes.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WooCommerce registra la comanda i envia informació.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Dolibarr dona suport a productes, estoc i gestió interna.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magatzem prepara la comanda i confirma el procés.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El correu serveix per notificacions i avisos operatius.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60920" y="4937760"/>
            <a:ext cx="40233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7A85B"/>
                </a:solidFill>
              </a:rPr>
              <a:t>Limitació real: la sincronització d’estoc no queda completament automatitzada.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Integració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5. Integració i interacció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Xarxa, seguretat i continuïtat</a:t>
            </a:r>
            <a:endParaRPr lang="en-US" sz="3000" dirty="0"/>
          </a:p>
        </p:txBody>
      </p:sp>
      <p:pic>
        <p:nvPicPr>
          <p:cNvPr id="6" name="Image 0" descr="/mnt/data/network_topology_with_vlan_segmentation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3030"/>
            <a:ext cx="5943600" cy="4457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12280" y="1371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3B"/>
                </a:solidFill>
              </a:rPr>
              <a:t>Disseny de xarxa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12280" y="1783080"/>
            <a:ext cx="443484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VLAN 10: Wi-Fi clients, només Internet.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VLAN 20: Wi-Fi privada per treballadors i PDA.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VLAN 30: equips crítics: TPV, NAS, càmeres i PCs.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Firewall/IPS per controlar trànsit entre xarxes.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1228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3B"/>
                </a:solidFill>
              </a:rPr>
              <a:t>Continuïtat del servei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12280" y="4617720"/>
            <a:ext cx="44348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Backups 3-2-1: hosting, NAS i correu.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Control d’accessos per rols.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Cookies/RGPD i protecció antispam.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Xarxa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18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6. Planificació del projecte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Fases, fites i tasques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El projecte s’ha organitzat perquè cada fase prepari la següent.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6. Planificació del projecte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Fases del Gantt i evolució del treball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Planificació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Context, abast i casos d’ús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0240" y="1920240"/>
            <a:ext cx="320040" cy="228600"/>
          </a:xfrm>
          <a:prstGeom prst="chevron">
            <a:avLst/>
          </a:prstGeom>
          <a:solidFill>
            <a:srgbClr val="A8C3A4"/>
          </a:solidFill>
          <a:ln w="12700">
            <a:solidFill>
              <a:srgbClr val="A8C3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Infraestructura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3172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Hosting, xarxa i equips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94760" y="1920240"/>
            <a:ext cx="320040" cy="228600"/>
          </a:xfrm>
          <a:prstGeom prst="chevron">
            <a:avLst/>
          </a:prstGeom>
          <a:solidFill>
            <a:srgbClr val="A8C3A4"/>
          </a:solidFill>
          <a:ln w="12700">
            <a:solidFill>
              <a:srgbClr val="A8C3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Software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0624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Web, WooCommerce i ERP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0" y="1920240"/>
            <a:ext cx="320040" cy="228600"/>
          </a:xfrm>
          <a:prstGeom prst="chevron">
            <a:avLst/>
          </a:prstGeom>
          <a:solidFill>
            <a:srgbClr val="A8C3A4"/>
          </a:solidFill>
          <a:ln w="12700">
            <a:solidFill>
              <a:srgbClr val="A8C3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Funcional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8076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Inventari, TPV i picking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43800" y="1920240"/>
            <a:ext cx="320040" cy="228600"/>
          </a:xfrm>
          <a:prstGeom prst="chevron">
            <a:avLst/>
          </a:prstGeom>
          <a:solidFill>
            <a:srgbClr val="A8C3A4"/>
          </a:solidFill>
          <a:ln w="12700">
            <a:solidFill>
              <a:srgbClr val="A8C3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Seguretat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95528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Backups, accessos i proves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18320" y="1920240"/>
            <a:ext cx="320040" cy="228600"/>
          </a:xfrm>
          <a:prstGeom prst="chevron">
            <a:avLst/>
          </a:prstGeom>
          <a:solidFill>
            <a:srgbClr val="A8C3A4"/>
          </a:solidFill>
          <a:ln w="12700">
            <a:solidFill>
              <a:srgbClr val="A8C3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1828800"/>
            <a:ext cx="1188720" cy="347472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1.5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7552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Tancament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29800" y="2651760"/>
            <a:ext cx="1508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56B"/>
                </a:solidFill>
              </a:rPr>
              <a:t>Memòria, guia i presentació</a:t>
            </a:r>
            <a:endParaRPr lang="en-US" sz="1050" dirty="0"/>
          </a:p>
        </p:txBody>
      </p:sp>
      <p:pic>
        <p:nvPicPr>
          <p:cNvPr id="29" name="Image 0" descr="/mnt/data/project_management_concept_overview_in_cata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3977640"/>
            <a:ext cx="2438400" cy="18288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532120" y="4251960"/>
            <a:ext cx="5577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31F"/>
                </a:solidFill>
              </a:rPr>
              <a:t>Les fites marquen quan cada bloc queda acabat: planificació, infraestructura, software, configuració funcional, seguretat i tancament.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Planificació</a:t>
            </a:r>
            <a:endParaRPr lang="en-US" sz="780" dirty="0"/>
          </a:p>
        </p:txBody>
      </p:sp>
      <p:sp>
        <p:nvSpPr>
          <p:cNvPr id="32" name="Text 29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7. Desenvolupament i implementació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Web demo i funcionalitat PHP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Una demo senzilla per demostrar HTML, CSS, PHP i base de dades.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7. Desenvolupament i implementació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Pàgina web pròpia de JOVECO</a:t>
            </a:r>
            <a:endParaRPr lang="en-US" sz="3000" dirty="0"/>
          </a:p>
        </p:txBody>
      </p:sp>
      <p:pic>
        <p:nvPicPr>
          <p:cNvPr id="6" name="Image 0" descr="/mnt/data/joveco_slide_assets/crops/page-0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916" y="1481328"/>
            <a:ext cx="4573289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3B"/>
                </a:solidFill>
              </a:rPr>
              <a:t>Fitxers del projecte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583680" y="1828800"/>
            <a:ext cx="44348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index.html: estructura de la pàgina.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style.css: colors, marges, imatges i taules.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consulta.php: consulta la base de dades.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img/: logotip i imatges del projecte.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29400" y="4617720"/>
            <a:ext cx="4206240" cy="54864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Criteri de disseny: codi senzill, fàcil d’entendre i defensable.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Web demo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7. Desenvolupament i implementació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Funcionament de la consulta PHP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99705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Formulari HTML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01138" y="189280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4018" y="1691640"/>
            <a:ext cx="199705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Producte seleccionat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99355" y="189280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82235" y="1691640"/>
            <a:ext cx="199705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consulta.php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97573" y="189280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0453" y="1691640"/>
            <a:ext cx="199705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MySQL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95790" y="189280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8670" y="1691640"/>
            <a:ext cx="1997050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Resultat al navegador</a:t>
            </a:r>
            <a:endParaRPr lang="en-US" sz="1250" dirty="0"/>
          </a:p>
        </p:txBody>
      </p:sp>
      <p:pic>
        <p:nvPicPr>
          <p:cNvPr id="15" name="Image 0" descr="/mnt/data/joveco_slide_assets/crops/page-0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796" y="2743200"/>
            <a:ext cx="3688609" cy="30175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89320" y="3017520"/>
            <a:ext cx="50749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L’usuari selecciona un producte.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PHP rep l’identificador.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Es fa la consulta a la base de dades.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Es mostren origen, categoria, preu i descripció.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989320" y="5120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6B3B"/>
                </a:solidFill>
              </a:rPr>
              <a:t>Funcionalitat clau programada: simple, visible i connectada a dades reals de prova.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PHP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</a:rPr>
              <a:t>23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BDD"/>
                </a:solidFill>
              </a:rPr>
              <a:t>8. Desplegament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Posada en funcionament i incidències reals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7512" y="31546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7F1E7"/>
                </a:solidFill>
              </a:rPr>
              <a:t>Dinahosting, autoinstal·lables, versions de PHP, backups i recuperació.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Presentació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8. Desplegament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Dinahosting, WordPress i Dolibarr</a:t>
            </a:r>
            <a:endParaRPr lang="en-US" sz="3000" dirty="0"/>
          </a:p>
        </p:txBody>
      </p:sp>
      <p:pic>
        <p:nvPicPr>
          <p:cNvPr id="6" name="Image 0" descr="/mnt/data/joveco_slide_assets/crops/page-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084" y="1481328"/>
            <a:ext cx="3424911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B3B"/>
                </a:solidFill>
              </a:rPr>
              <a:t>Procés de desplegament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09360" y="1810512"/>
            <a:ext cx="46634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Instal·lació de Dolibarr com a ERP.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Instal·lació de WordPress i WooCommerce.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Configuració de productes, categories i inventari.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Creació de bases de dades i carpetes separades.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331F"/>
                </a:solidFill>
              </a:rPr>
              <a:t>Ús de còpies de seguretat abans de canvis importants.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55080" y="4892040"/>
            <a:ext cx="4480560" cy="502920"/>
          </a:xfrm>
          <a:prstGeom prst="rect">
            <a:avLst/>
          </a:prstGeom>
          <a:solidFill>
            <a:srgbClr val="EEE4CE"/>
          </a:solidFill>
          <a:ln>
            <a:solidFill>
              <a:srgbClr val="EEE4C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7331F"/>
                </a:solidFill>
              </a:rPr>
              <a:t>Decisió inicial: aprofitar autoinstal·lables per reduir complexitat i avançar més ràpid.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Desplegament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8. Desplegament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Incidències i recuperació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43891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31F"/>
                </a:solidFill>
              </a:rPr>
              <a:t>PHP 7.4 vs plugins moderns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4389120" cy="347472"/>
          </a:xfrm>
          <a:prstGeom prst="rect">
            <a:avLst/>
          </a:prstGeom>
          <a:solidFill>
            <a:srgbClr val="F1F4ED"/>
          </a:solidFill>
          <a:ln>
            <a:solidFill>
              <a:srgbClr val="E1E4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31F"/>
                </a:solidFill>
              </a:rPr>
              <a:t>Dolibarr antic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3891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31F"/>
                </a:solidFill>
              </a:rPr>
              <a:t>Instal·lació accidental a /www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191256"/>
            <a:ext cx="4389120" cy="347472"/>
          </a:xfrm>
          <a:prstGeom prst="rect">
            <a:avLst/>
          </a:prstGeom>
          <a:solidFill>
            <a:srgbClr val="F1F4ED"/>
          </a:solidFill>
          <a:ln>
            <a:solidFill>
              <a:srgbClr val="E1E4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31F"/>
                </a:solidFill>
              </a:rPr>
              <a:t>Problemes SSL i .htaccess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721608"/>
            <a:ext cx="43891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1E4D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331F"/>
                </a:solidFill>
              </a:rPr>
              <a:t>URLs incorrectes a la base de dades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0" y="2770632"/>
            <a:ext cx="548640" cy="475488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91640"/>
            <a:ext cx="466344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7331F"/>
                </a:solidFill>
              </a:rPr>
              <a:t>Backups de fitxers i bases de dades.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7331F"/>
                </a:solidFill>
              </a:rPr>
              <a:t>Restauració de carpetes Botiga i ERP.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7331F"/>
                </a:solidFill>
              </a:rPr>
              <a:t>Creació de noves bases de dades.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7331F"/>
                </a:solidFill>
              </a:rPr>
              <a:t>Revisió de .htaccess i URLs.</a:t>
            </a:r>
            <a:endParaRPr lang="en-US" sz="1480" dirty="0"/>
          </a:p>
          <a:p>
            <a:pPr marL="177800" indent="-177800">
              <a:buSzPct val="100000"/>
              <a:buChar char="•"/>
            </a:pPr>
            <a:r>
              <a:rPr lang="en-US" sz="1480" dirty="0">
                <a:solidFill>
                  <a:srgbClr val="17331F"/>
                </a:solidFill>
              </a:rPr>
              <a:t>Validació final de web, WooCommerce i Dolibarr.</a:t>
            </a:r>
            <a:endParaRPr lang="en-US" sz="1480" dirty="0"/>
          </a:p>
        </p:txBody>
      </p:sp>
      <p:sp>
        <p:nvSpPr>
          <p:cNvPr id="13" name="Text 11"/>
          <p:cNvSpPr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B3B"/>
                </a:solidFill>
              </a:rPr>
              <a:t>Aprenentatge clau: en un hosting real, qualsevol canvi pot afectar altres parts del sistema.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Incidències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9. Evidències i annexos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Documentació que dona suport al projecte</a:t>
            </a:r>
            <a:endParaRPr lang="en-US" sz="3000" dirty="0"/>
          </a:p>
        </p:txBody>
      </p:sp>
      <p:pic>
        <p:nvPicPr>
          <p:cNvPr id="6" name="Image 0" descr="/mnt/data/joveco_slide_assets/crops/page-0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33307"/>
            <a:ext cx="3383280" cy="4019986"/>
          </a:xfrm>
          <a:prstGeom prst="rect">
            <a:avLst/>
          </a:prstGeom>
        </p:spPr>
      </p:pic>
      <p:pic>
        <p:nvPicPr>
          <p:cNvPr id="7" name="Image 1" descr="/mnt/data/joveco_slide_assets/crops/page-1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77985"/>
            <a:ext cx="3383280" cy="3730630"/>
          </a:xfrm>
          <a:prstGeom prst="rect">
            <a:avLst/>
          </a:prstGeom>
        </p:spPr>
      </p:pic>
      <p:pic>
        <p:nvPicPr>
          <p:cNvPr id="8" name="Image 2" descr="/mnt/data/joveco_slide_assets/crops/page-1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024" y="1325880"/>
            <a:ext cx="3380112" cy="44348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360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B3B"/>
                </a:solidFill>
              </a:rPr>
              <a:t>Dolibarr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343400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B3B"/>
                </a:solidFill>
              </a:rPr>
              <a:t>Pressupost estimat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8092440" y="5760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B3B"/>
                </a:solidFill>
              </a:rPr>
              <a:t>Proves finals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Annexos</a:t>
            </a:r>
            <a:endParaRPr lang="en-US" sz="780" dirty="0"/>
          </a:p>
        </p:txBody>
      </p:sp>
      <p:sp>
        <p:nvSpPr>
          <p:cNvPr id="13" name="Text 8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ENGLISH SLIDE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Results and validation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3B"/>
                </a:solidFill>
              </a:rPr>
              <a:t>What has been achieved?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2120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 simple HTML/CSS website with a PHP product query.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 WordPress + WooCommerce online store base.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 Dolibarr ERP installation for internal management.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 network and security proposal with VLANs and backups.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Final validation tests documented in the annexes.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2940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3B"/>
                </a:solidFill>
              </a:rPr>
              <a:t>Validated components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64008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Website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96328" y="225856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2057400"/>
            <a:ext cx="64008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PHP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37576" y="225856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2057400"/>
            <a:ext cx="64008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Database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78824" y="225856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61704" y="2057400"/>
            <a:ext cx="64008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WooCommerce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20072" y="225856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2057400"/>
            <a:ext cx="640080" cy="658368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31F"/>
                </a:solidFill>
              </a:rPr>
              <a:t>Dolibarr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61320" y="2258568"/>
            <a:ext cx="164592" cy="256032"/>
          </a:xfrm>
          <a:prstGeom prst="chevron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44200" y="2057400"/>
            <a:ext cx="640080" cy="658368"/>
          </a:xfrm>
          <a:prstGeom prst="rect">
            <a:avLst/>
          </a:prstGeom>
          <a:solidFill>
            <a:srgbClr val="1F6B3B"/>
          </a:solidFill>
          <a:ln>
            <a:solidFill>
              <a:srgbClr val="1F6B3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Backups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7A85B"/>
                </a:solidFill>
              </a:rPr>
              <a:t>Main limitation: stock synchronization is not fully automatic yet.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49834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56B"/>
                </a:solidFill>
              </a:rPr>
              <a:t>This slide is prepared to be presented orally in English.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Results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ENGLISH SLIDE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Lessons learned and future work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3B"/>
                </a:solidFill>
              </a:rPr>
              <a:t>Technical learning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45720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Hosting and real deployment.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Databases and PHP forms.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WordPress, WooCommerce and Dolibarr.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Backups and recovery after incidents.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B3B"/>
                </a:solidFill>
              </a:rPr>
              <a:t>Future improvements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1993392"/>
            <a:ext cx="45720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Update or replace the ERP.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Improve automatic stock synchronization.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Automate backups.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Deploy the physical network.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7331F"/>
                </a:solidFill>
              </a:rPr>
              <a:t>Add agricultural sensors in a future phase.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5120640"/>
            <a:ext cx="10149840" cy="50292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31F"/>
                </a:solidFill>
              </a:rPr>
              <a:t>The project is not a perfect final system, but a realistic and documented base to keep improving JOVECO.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Lessons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B3B"/>
                </a:solidFill>
              </a:rPr>
              <a:t>10. Conclusions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320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56B"/>
                </a:solidFill>
              </a:rPr>
              <a:t>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658368"/>
            <a:ext cx="10972800" cy="0"/>
          </a:xfrm>
          <a:prstGeom prst="line">
            <a:avLst/>
          </a:prstGeom>
          <a:noFill/>
          <a:ln w="12700">
            <a:solidFill>
              <a:srgbClr val="D9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686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31F"/>
                </a:solidFill>
              </a:rPr>
              <a:t>Conclusions i aprenentatges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58521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331F"/>
                </a:solidFill>
              </a:rPr>
              <a:t>Modernitzar un supermercat no és només fer una web: cal pensar en vendes, estoc, xarxa, seguretat i manteniment.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331F"/>
                </a:solidFill>
              </a:rPr>
              <a:t>Les integracions reals poden fallar per versions, plugins o configuracions del hosting.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331F"/>
                </a:solidFill>
              </a:rPr>
              <a:t>Els backups han estat imprescindibles per recuperar el projecte després d’incidències.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7331F"/>
                </a:solidFill>
              </a:rPr>
              <a:t>La documentació i els annexos permeten defensar i mantenir millor la solució.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06640" y="1874520"/>
            <a:ext cx="3383280" cy="914400"/>
          </a:xfrm>
          <a:prstGeom prst="rect">
            <a:avLst/>
          </a:prstGeom>
          <a:solidFill>
            <a:srgbClr val="DCEBDD"/>
          </a:solidFill>
          <a:ln>
            <a:solidFill>
              <a:srgbClr val="DCEB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Base funcional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per seguir creixent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06640" y="3246120"/>
            <a:ext cx="3383280" cy="914400"/>
          </a:xfrm>
          <a:prstGeom prst="rect">
            <a:avLst/>
          </a:prstGeom>
          <a:solidFill>
            <a:srgbClr val="EEE4CE"/>
          </a:solidFill>
          <a:ln>
            <a:solidFill>
              <a:srgbClr val="EEE4C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Millora futura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ERP + sincronització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4617720"/>
            <a:ext cx="3383280" cy="914400"/>
          </a:xfrm>
          <a:prstGeom prst="rect">
            <a:avLst/>
          </a:prstGeom>
          <a:solidFill>
            <a:srgbClr val="F4E7B5"/>
          </a:solidFill>
          <a:ln>
            <a:solidFill>
              <a:srgbClr val="F4E7B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Projecte defensable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331F"/>
                </a:solidFill>
              </a:rPr>
              <a:t>amb evidències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Conclusions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6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B3B"/>
          </a:solidFill>
          <a:ln w="12700">
            <a:solidFill>
              <a:srgbClr val="1F6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Gràcies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04672" y="2971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F1E7"/>
                </a:solidFill>
              </a:rPr>
              <a:t>Preguntes?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38100">
            <a:solidFill>
              <a:srgbClr val="E7A8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69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1E7"/>
                </a:solidFill>
              </a:rPr>
              <a:t>JOVECO · Supermercat de proximitat</a:t>
            </a:r>
            <a:endParaRPr lang="en-US" sz="1600" dirty="0"/>
          </a:p>
        </p:txBody>
      </p:sp>
      <p:pic>
        <p:nvPicPr>
          <p:cNvPr id="7" name="Image 0" descr="/mnt/data/global_solution_workflow_diagram.png">    </p:cNvPr>
          <p:cNvPicPr>
            <a:picLocks noChangeAspect="1"/>
          </p:cNvPicPr>
          <p:nvPr/>
        </p:nvPicPr>
        <p:blipFill>
          <a:blip r:embed="rId1"/>
          <a:srcRect l="14286" r="14286" t="0" b="0"/>
          <a:stretch/>
        </p:blipFill>
        <p:spPr>
          <a:xfrm>
            <a:off x="6492240" y="960120"/>
            <a:ext cx="4572000" cy="4800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56B"/>
                </a:solidFill>
              </a:rPr>
              <a:t>JOVECO · Final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F6B3B"/>
                </a:solidFill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INS Palamós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JOVECO - Presentació del projecte</dc:title>
  <dc:subject>JOVECO - Projecte SMX</dc:subject>
  <dc:creator>Adrià Cabrera Martínez</dc:creator>
  <cp:lastModifiedBy>Adrià Cabrera Martínez</cp:lastModifiedBy>
  <cp:revision>1</cp:revision>
  <dcterms:created xsi:type="dcterms:W3CDTF">2026-05-12T15:25:28Z</dcterms:created>
  <dcterms:modified xsi:type="dcterms:W3CDTF">2026-05-12T15:25:28Z</dcterms:modified>
</cp:coreProperties>
</file>